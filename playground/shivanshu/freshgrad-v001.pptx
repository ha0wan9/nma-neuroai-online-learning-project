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a2708b9b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5a2708b9b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a2708b9b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5a2708b9b_2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a2708b9b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5a2708b9b_2_9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a2708b9b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5a2708b9b_2_1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a2708b9b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5a2708b9b_2_1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a2708b9b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5a2708b9b_2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a2708b9b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5a2708b9b_2_13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a2708b9b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5a2708b9b_2_14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5a2708b9b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5a2708b9b_2_15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411491" y="377190"/>
            <a:ext cx="1769411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THE PROBLEM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1 / 9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411491" y="788670"/>
            <a:ext cx="829840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Backpropagation — powerful, but not brain-like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411491" y="1714500"/>
            <a:ext cx="39434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Neural nets learn by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backpropagation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: predict, then send the output error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backward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through every layer to update the weights.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A brain can't run it — it needs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weight transport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(the exact transpose weights, in reverse), a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non-local error, and a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separate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backward phase.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And it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forgets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: learning new tasks overwrites the old ones (catastrophic interference).</a:t>
            </a:r>
            <a:endParaRPr sz="1100"/>
          </a:p>
        </p:txBody>
      </p:sp>
      <p:sp>
        <p:nvSpPr>
          <p:cNvPr id="134" name="Google Shape;134;p25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✗ × 3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things a brain can't do</a:t>
            </a:r>
            <a:endParaRPr sz="1100"/>
          </a:p>
        </p:txBody>
      </p:sp>
      <p:pic>
        <p:nvPicPr>
          <p:cNvPr descr="_svgimg_ros_local.png" id="135" name="Google Shape;1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2483644"/>
            <a:ext cx="4457700" cy="154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11491" y="377190"/>
            <a:ext cx="1440218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THE IDEA</a:t>
            </a:r>
            <a:endParaRPr sz="1100"/>
          </a:p>
        </p:txBody>
      </p:sp>
      <p:sp>
        <p:nvSpPr>
          <p:cNvPr id="142" name="Google Shape;142;p26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2 / 9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411491" y="788670"/>
            <a:ext cx="8298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Predictive coding — learning with only local signals 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411491" y="1714500"/>
            <a:ext cx="39434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PC gives each layer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value neurons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(activity) and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error neurons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(local mismatch); it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settles activity first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, then makes a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local Hebbian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update.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That removes all three blockers —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no global error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no weight transport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no separate backward pass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: everything is local.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We test it on an identical MLP (swap only the rule) with three questions —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parity,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forgetting,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budget.</a:t>
            </a:r>
            <a:endParaRPr sz="1100"/>
          </a:p>
        </p:txBody>
      </p:sp>
      <p:sp>
        <p:nvSpPr>
          <p:cNvPr id="145" name="Google Shape;145;p26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100% local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only neighbour signals</a:t>
            </a:r>
            <a:endParaRPr sz="1100"/>
          </a:p>
        </p:txBody>
      </p:sp>
      <p:pic>
        <p:nvPicPr>
          <p:cNvPr descr="_svgimg_mechanism.png" id="146" name="Google Shape;1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2731294"/>
            <a:ext cx="4457700" cy="1052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411491" y="377190"/>
            <a:ext cx="2208335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· THE QUESTION</a:t>
            </a: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sz="1100"/>
          </a:p>
        </p:txBody>
      </p:sp>
      <p:sp>
        <p:nvSpPr>
          <p:cNvPr id="154" name="Google Shape;154;p27"/>
          <p:cNvSpPr txBox="1"/>
          <p:nvPr/>
        </p:nvSpPr>
        <p:spPr>
          <a:xfrm>
            <a:off x="411491" y="788670"/>
            <a:ext cx="829840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Does PC match backprop on the basics?</a:t>
            </a:r>
            <a:endParaRPr sz="1100"/>
          </a:p>
        </p:txBody>
      </p:sp>
      <p:sp>
        <p:nvSpPr>
          <p:cNvPr id="155" name="Google Shape;155;p27"/>
          <p:cNvSpPr txBox="1"/>
          <p:nvPr/>
        </p:nvSpPr>
        <p:spPr>
          <a:xfrm>
            <a:off x="411491" y="1714500"/>
            <a:ext cx="39434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On plain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MNIST, is predictive coding as accurate as backprop on the same network?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Test error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— % wrong on held-out data; the generalisation number that matters.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Gradient SNR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— how consistent the per-example updates are; high = a clean, reliable signal.</a:t>
            </a:r>
            <a:endParaRPr sz="1100"/>
          </a:p>
        </p:txBody>
      </p:sp>
      <p:sp>
        <p:nvSpPr>
          <p:cNvPr id="156" name="Google Shape;156;p27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same net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two rules · one test</a:t>
            </a:r>
            <a:endParaRPr sz="1100"/>
          </a:p>
        </p:txBody>
      </p:sp>
      <p:pic>
        <p:nvPicPr>
          <p:cNvPr descr="_svgimg_setup_q1.png" id="157" name="Google Shape;1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2638425"/>
            <a:ext cx="44577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411491" y="377190"/>
            <a:ext cx="1659680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· RESULTS</a:t>
            </a:r>
            <a:endParaRPr sz="1100"/>
          </a:p>
        </p:txBody>
      </p:sp>
      <p:sp>
        <p:nvSpPr>
          <p:cNvPr id="164" name="Google Shape;164;p28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sz="1100"/>
          </a:p>
        </p:txBody>
      </p:sp>
      <p:sp>
        <p:nvSpPr>
          <p:cNvPr id="165" name="Google Shape;165;p28"/>
          <p:cNvSpPr txBox="1"/>
          <p:nvPr/>
        </p:nvSpPr>
        <p:spPr>
          <a:xfrm>
            <a:off x="411491" y="788670"/>
            <a:ext cx="829840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Predictive coding matches backprop</a:t>
            </a:r>
            <a:endParaRPr sz="1100"/>
          </a:p>
        </p:txBody>
      </p:sp>
      <p:sp>
        <p:nvSpPr>
          <p:cNvPr id="166" name="Google Shape;166;p28"/>
          <p:cNvSpPr txBox="1"/>
          <p:nvPr/>
        </p:nvSpPr>
        <p:spPr>
          <a:xfrm>
            <a:off x="411491" y="1714500"/>
            <a:ext cx="3943500" cy="1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PC reaches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backprop-level test error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(~6%, either rule).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Its per-example gradients are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more consistent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— higher SNR, a cleaner signal.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So PC is a fully viable learning rule; its real advantage is in continual learning.</a:t>
            </a:r>
            <a:endParaRPr sz="1100"/>
          </a:p>
        </p:txBody>
      </p:sp>
      <p:sp>
        <p:nvSpPr>
          <p:cNvPr id="167" name="Google Shape;167;p28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PC ≈ BP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static accuracy — on par</a:t>
            </a:r>
            <a:endParaRPr sz="1100"/>
          </a:p>
        </p:txBody>
      </p:sp>
      <p:pic>
        <p:nvPicPr>
          <p:cNvPr descr="_fig_q1.png"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2152799"/>
            <a:ext cx="4457700" cy="2209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411491" y="377190"/>
            <a:ext cx="2208335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· THE QUESTION</a:t>
            </a:r>
            <a:endParaRPr sz="1100"/>
          </a:p>
        </p:txBody>
      </p:sp>
      <p:sp>
        <p:nvSpPr>
          <p:cNvPr id="175" name="Google Shape;175;p29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5 / 9</a:t>
            </a:r>
            <a:endParaRPr sz="1100"/>
          </a:p>
        </p:txBody>
      </p:sp>
      <p:sp>
        <p:nvSpPr>
          <p:cNvPr id="176" name="Google Shape;176;p29"/>
          <p:cNvSpPr txBox="1"/>
          <p:nvPr/>
        </p:nvSpPr>
        <p:spPr>
          <a:xfrm>
            <a:off x="411491" y="788670"/>
            <a:ext cx="829840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Can it keep learning without forgetting?</a:t>
            </a:r>
            <a:endParaRPr sz="1100"/>
          </a:p>
        </p:txBody>
      </p:sp>
      <p:sp>
        <p:nvSpPr>
          <p:cNvPr id="177" name="Google Shape;177;p29"/>
          <p:cNvSpPr txBox="1"/>
          <p:nvPr/>
        </p:nvSpPr>
        <p:spPr>
          <a:xfrm>
            <a:off x="411491" y="1714500"/>
            <a:ext cx="39434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Train on a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of tasks (Permuted &amp; Split MNIST), one pass each — does new learning erase the old?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Forgetting / backward transfer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— the drop in an earlier task's accuracy after later training.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Loss of plasticity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— whether the net keeps enough active hidden units to keep learning (effective rank).</a:t>
            </a:r>
            <a:endParaRPr sz="1100"/>
          </a:p>
        </p:txBody>
      </p:sp>
      <p:sp>
        <p:nvSpPr>
          <p:cNvPr id="178" name="Google Shape;178;p29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task 10 → task 1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still remembered?</a:t>
            </a:r>
            <a:endParaRPr sz="1100"/>
          </a:p>
        </p:txBody>
      </p:sp>
      <p:pic>
        <p:nvPicPr>
          <p:cNvPr descr="_svgimg_stream_q2.png" id="179" name="Google Shape;1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2607469"/>
            <a:ext cx="4457700" cy="130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411491" y="377190"/>
            <a:ext cx="1659680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· RESULTS</a:t>
            </a:r>
            <a:endParaRPr sz="1100"/>
          </a:p>
        </p:txBody>
      </p:sp>
      <p:sp>
        <p:nvSpPr>
          <p:cNvPr id="186" name="Google Shape;186;p30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sz="1100"/>
          </a:p>
        </p:txBody>
      </p:sp>
      <p:sp>
        <p:nvSpPr>
          <p:cNvPr id="187" name="Google Shape;187;p30"/>
          <p:cNvSpPr txBox="1"/>
          <p:nvPr/>
        </p:nvSpPr>
        <p:spPr>
          <a:xfrm>
            <a:off x="411491" y="788670"/>
            <a:ext cx="829840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PC forgets far less than backprop</a:t>
            </a:r>
            <a:endParaRPr sz="1100"/>
          </a:p>
        </p:txBody>
      </p:sp>
      <p:sp>
        <p:nvSpPr>
          <p:cNvPr id="188" name="Google Shape;188;p30"/>
          <p:cNvSpPr txBox="1"/>
          <p:nvPr/>
        </p:nvSpPr>
        <p:spPr>
          <a:xfrm>
            <a:off x="411491" y="1714500"/>
            <a:ext cx="39434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On Permuted-MNIST, PC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roughly halves forgetting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vs backprop.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Backprop's hidden representation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collapses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(effective rank falls); PC's stays high and flat.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Preserved capacity → less forgetting — the core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beyond-backprop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result.</a:t>
            </a:r>
            <a:endParaRPr sz="1100"/>
          </a:p>
        </p:txBody>
      </p:sp>
      <p:sp>
        <p:nvSpPr>
          <p:cNvPr id="189" name="Google Shape;189;p30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3.6% vs 8.4%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forgetting: PC vs backprop</a:t>
            </a:r>
            <a:endParaRPr sz="1100"/>
          </a:p>
        </p:txBody>
      </p:sp>
      <p:pic>
        <p:nvPicPr>
          <p:cNvPr descr="_fig_q2rank.png" id="190" name="Google Shape;1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1707877"/>
            <a:ext cx="4457699" cy="309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1"/>
          <p:cNvSpPr/>
          <p:nvPr/>
        </p:nvSpPr>
        <p:spPr>
          <a:xfrm>
            <a:off x="411491" y="377190"/>
            <a:ext cx="2208335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· THE QUESTION</a:t>
            </a:r>
            <a:endParaRPr sz="1100"/>
          </a:p>
        </p:txBody>
      </p:sp>
      <p:sp>
        <p:nvSpPr>
          <p:cNvPr id="197" name="Google Shape;197;p31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sz="1100"/>
          </a:p>
        </p:txBody>
      </p:sp>
      <p:sp>
        <p:nvSpPr>
          <p:cNvPr id="198" name="Google Shape;198;p31"/>
          <p:cNvSpPr txBox="1"/>
          <p:nvPr/>
        </p:nvSpPr>
        <p:spPr>
          <a:xfrm>
            <a:off x="411491" y="788670"/>
            <a:ext cx="829840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How much thinking before it learns?</a:t>
            </a:r>
            <a:endParaRPr sz="1100"/>
          </a:p>
        </p:txBody>
      </p:sp>
      <p:sp>
        <p:nvSpPr>
          <p:cNvPr id="199" name="Google Shape;199;p31"/>
          <p:cNvSpPr txBox="1"/>
          <p:nvPr/>
        </p:nvSpPr>
        <p:spPr>
          <a:xfrm>
            <a:off x="411491" y="1714500"/>
            <a:ext cx="39434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PC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settles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its activity for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steps before each weight update — how much T is worth it?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Inference budget T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— the number of settling steps per batch.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Stability–plasticity vs compute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— more T may buy robustness, but costs linearly more.</a:t>
            </a:r>
            <a:endParaRPr sz="1100"/>
          </a:p>
        </p:txBody>
      </p:sp>
      <p:sp>
        <p:nvSpPr>
          <p:cNvPr id="200" name="Google Shape;200;p31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how long?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to think before learning</a:t>
            </a:r>
            <a:endParaRPr sz="1100"/>
          </a:p>
        </p:txBody>
      </p:sp>
      <p:pic>
        <p:nvPicPr>
          <p:cNvPr descr="_svgimg_budget_q3.png" id="201" name="Google Shape;2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2638425"/>
            <a:ext cx="44577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411491" y="377190"/>
            <a:ext cx="1659680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· RESULTS</a:t>
            </a:r>
            <a:endParaRPr sz="1100"/>
          </a:p>
        </p:txBody>
      </p:sp>
      <p:sp>
        <p:nvSpPr>
          <p:cNvPr id="208" name="Google Shape;208;p32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sz="1100"/>
          </a:p>
        </p:txBody>
      </p:sp>
      <p:sp>
        <p:nvSpPr>
          <p:cNvPr id="209" name="Google Shape;209;p32"/>
          <p:cNvSpPr txBox="1"/>
          <p:nvPr/>
        </p:nvSpPr>
        <p:spPr>
          <a:xfrm>
            <a:off x="411491" y="788670"/>
            <a:ext cx="829840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A little thinking goes a long way</a:t>
            </a:r>
            <a:endParaRPr sz="1100"/>
          </a:p>
        </p:txBody>
      </p:sp>
      <p:sp>
        <p:nvSpPr>
          <p:cNvPr id="210" name="Google Shape;210;p32"/>
          <p:cNvSpPr txBox="1"/>
          <p:nvPr/>
        </p:nvSpPr>
        <p:spPr>
          <a:xfrm>
            <a:off x="411491" y="1714500"/>
            <a:ext cx="39434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Accuracy and forgetting stay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roughly flat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across T = 1 … 32.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Compute cost grows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~linearly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with T.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small inference budget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captures most of the benefit.</a:t>
            </a:r>
            <a:endParaRPr sz="1100"/>
          </a:p>
        </p:txBody>
      </p:sp>
      <p:sp>
        <p:nvSpPr>
          <p:cNvPr id="211" name="Google Shape;211;p32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small T wins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robustness flat · cost linear</a:t>
            </a:r>
            <a:endParaRPr sz="1100"/>
          </a:p>
        </p:txBody>
      </p:sp>
      <p:pic>
        <p:nvPicPr>
          <p:cNvPr descr="_fig_q3.png" id="212" name="Google Shape;2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2149567"/>
            <a:ext cx="4457700" cy="221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/>
          <p:nvPr/>
        </p:nvSpPr>
        <p:spPr>
          <a:xfrm>
            <a:off x="377200" y="192024"/>
            <a:ext cx="8387558" cy="61722"/>
          </a:xfrm>
          <a:prstGeom prst="rect">
            <a:avLst/>
          </a:prstGeom>
          <a:solidFill>
            <a:srgbClr val="4A3A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3"/>
          <p:cNvSpPr/>
          <p:nvPr/>
        </p:nvSpPr>
        <p:spPr>
          <a:xfrm>
            <a:off x="411491" y="377190"/>
            <a:ext cx="1549949" cy="288036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VERDICT</a:t>
            </a:r>
            <a:endParaRPr sz="1100"/>
          </a:p>
        </p:txBody>
      </p:sp>
      <p:sp>
        <p:nvSpPr>
          <p:cNvPr id="219" name="Google Shape;219;p33"/>
          <p:cNvSpPr txBox="1"/>
          <p:nvPr/>
        </p:nvSpPr>
        <p:spPr>
          <a:xfrm>
            <a:off x="7475419" y="377190"/>
            <a:ext cx="126876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9 / 9</a:t>
            </a:r>
            <a:endParaRPr sz="1100"/>
          </a:p>
        </p:txBody>
      </p:sp>
      <p:sp>
        <p:nvSpPr>
          <p:cNvPr id="220" name="Google Shape;220;p33"/>
          <p:cNvSpPr txBox="1"/>
          <p:nvPr/>
        </p:nvSpPr>
        <p:spPr>
          <a:xfrm>
            <a:off x="411491" y="788670"/>
            <a:ext cx="829840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Three views of predictive coding</a:t>
            </a:r>
            <a:endParaRPr sz="1100"/>
          </a:p>
        </p:txBody>
      </p:sp>
      <p:sp>
        <p:nvSpPr>
          <p:cNvPr id="221" name="Google Shape;221;p33"/>
          <p:cNvSpPr txBox="1"/>
          <p:nvPr/>
        </p:nvSpPr>
        <p:spPr>
          <a:xfrm>
            <a:off x="411491" y="1714500"/>
            <a:ext cx="394345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Song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settle then learn ·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Rosenbaum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equals backprop under the FPA ·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Bogacz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weight errors by reliability.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Forgetting vs backprop —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Song 0.43×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(better) ·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Rosenbaum 1.0×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(same) ·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Bogacz 2.3×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(worse).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activity-first PC (Song) beats backprop at continual learning. </a:t>
            </a:r>
            <a:r>
              <a:rPr b="1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Next:</a:t>
            </a:r>
            <a:r>
              <a:rPr b="0" lang="en" sz="1200">
                <a:solidFill>
                  <a:srgbClr val="141C28"/>
                </a:solidFill>
                <a:latin typeface="Calibri"/>
                <a:ea typeface="Calibri"/>
                <a:cs typeface="Calibri"/>
                <a:sym typeface="Calibri"/>
              </a:rPr>
              <a:t> deeper nets, more seeds, CIFAR.</a:t>
            </a:r>
            <a:endParaRPr sz="1100"/>
          </a:p>
        </p:txBody>
      </p:sp>
      <p:sp>
        <p:nvSpPr>
          <p:cNvPr id="222" name="Google Shape;222;p33"/>
          <p:cNvSpPr/>
          <p:nvPr/>
        </p:nvSpPr>
        <p:spPr>
          <a:xfrm>
            <a:off x="411491" y="4251960"/>
            <a:ext cx="3223346" cy="651510"/>
          </a:xfrm>
          <a:prstGeom prst="roundRect">
            <a:avLst>
              <a:gd fmla="val 16667" name="adj"/>
            </a:avLst>
          </a:prstGeom>
          <a:solidFill>
            <a:srgbClr val="EFEAFB"/>
          </a:solidFill>
          <a:ln cap="flat" cmpd="sng" w="9525">
            <a:solidFill>
              <a:srgbClr val="E2E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3AA7"/>
                </a:solidFill>
                <a:latin typeface="Calibri"/>
                <a:ea typeface="Calibri"/>
                <a:cs typeface="Calibri"/>
                <a:sym typeface="Calibri"/>
              </a:rPr>
              <a:t>0.43×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D6B82"/>
                </a:solidFill>
                <a:latin typeface="Calibri"/>
                <a:ea typeface="Calibri"/>
                <a:cs typeface="Calibri"/>
                <a:sym typeface="Calibri"/>
              </a:rPr>
              <a:t>Song forgetting vs backprop</a:t>
            </a:r>
            <a:endParaRPr sz="1100"/>
          </a:p>
        </p:txBody>
      </p:sp>
      <p:pic>
        <p:nvPicPr>
          <p:cNvPr descr="_fig_ratio.png" id="223" name="Google Shape;2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528" y="1967163"/>
            <a:ext cx="4457700" cy="258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